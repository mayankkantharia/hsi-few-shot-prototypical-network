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  <p:sldId id="277" r:id="rId51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Tex Gyre Termes" charset="1" panose="00000500000000000000"/>
      <p:regular r:id="rId10"/>
    </p:embeddedFont>
    <p:embeddedFont>
      <p:font typeface="Tex Gyre Termes Bold" charset="1" panose="00000800000000000000"/>
      <p:regular r:id="rId11"/>
    </p:embeddedFont>
    <p:embeddedFont>
      <p:font typeface="Tex Gyre Termes Italics" charset="1" panose="00000500000000000000"/>
      <p:regular r:id="rId12"/>
    </p:embeddedFont>
    <p:embeddedFont>
      <p:font typeface="Tex Gyre Termes Bold Italics" charset="1" panose="00000800000000000000"/>
      <p:regular r:id="rId13"/>
    </p:embeddedFont>
    <p:embeddedFont>
      <p:font typeface="Open Sans Light" charset="1" panose="020B0306030504020204"/>
      <p:regular r:id="rId14"/>
    </p:embeddedFont>
    <p:embeddedFont>
      <p:font typeface="Open Sans Light Bold" charset="1" panose="020B0806030504020204"/>
      <p:regular r:id="rId15"/>
    </p:embeddedFont>
    <p:embeddedFont>
      <p:font typeface="Open Sans Light Italics" charset="1" panose="020B0306030504020204"/>
      <p:regular r:id="rId16"/>
    </p:embeddedFont>
    <p:embeddedFont>
      <p:font typeface="Open Sans Light Bold Italics" charset="1" panose="020B0806030504020204"/>
      <p:regular r:id="rId17"/>
    </p:embeddedFont>
    <p:embeddedFont>
      <p:font typeface="Open Sans" charset="1" panose="020B0606030504020204"/>
      <p:regular r:id="rId18"/>
    </p:embeddedFont>
    <p:embeddedFont>
      <p:font typeface="Open Sans Bold" charset="1" panose="020B0806030504020204"/>
      <p:regular r:id="rId19"/>
    </p:embeddedFont>
    <p:embeddedFont>
      <p:font typeface="Open Sans Italics" charset="1" panose="020B0606030504020204"/>
      <p:regular r:id="rId20"/>
    </p:embeddedFont>
    <p:embeddedFont>
      <p:font typeface="Open Sans Bold Italics" charset="1" panose="020B0806030504020204"/>
      <p:regular r:id="rId21"/>
    </p:embeddedFont>
    <p:embeddedFont>
      <p:font typeface="Prompt Medium" charset="1" panose="00000600000000000000"/>
      <p:regular r:id="rId22"/>
    </p:embeddedFont>
    <p:embeddedFont>
      <p:font typeface="Prompt Medium Bold" charset="1" panose="00000700000000000000"/>
      <p:regular r:id="rId23"/>
    </p:embeddedFont>
    <p:embeddedFont>
      <p:font typeface="Prompt Medium Italics" charset="1" panose="00000600000000000000"/>
      <p:regular r:id="rId24"/>
    </p:embeddedFont>
    <p:embeddedFont>
      <p:font typeface="Prompt Medium Bold Italics" charset="1" panose="00000700000000000000"/>
      <p:regular r:id="rId25"/>
    </p:embeddedFont>
    <p:embeddedFont>
      <p:font typeface="Prompt Light" charset="1" panose="00000400000000000000"/>
      <p:regular r:id="rId26"/>
    </p:embeddedFont>
    <p:embeddedFont>
      <p:font typeface="Prompt Light Bold" charset="1" panose="00000500000000000000"/>
      <p:regular r:id="rId27"/>
    </p:embeddedFont>
    <p:embeddedFont>
      <p:font typeface="Prompt Light Italics" charset="1" panose="00000400000000000000"/>
      <p:regular r:id="rId28"/>
    </p:embeddedFont>
    <p:embeddedFont>
      <p:font typeface="Prompt Light Bold Italics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slides/slide1.xml" Type="http://schemas.openxmlformats.org/officeDocument/2006/relationships/slide"/><Relationship Id="rId31" Target="slides/slide2.xml" Type="http://schemas.openxmlformats.org/officeDocument/2006/relationships/slide"/><Relationship Id="rId32" Target="slides/slide3.xml" Type="http://schemas.openxmlformats.org/officeDocument/2006/relationships/slide"/><Relationship Id="rId33" Target="slides/slide4.xml" Type="http://schemas.openxmlformats.org/officeDocument/2006/relationships/slide"/><Relationship Id="rId34" Target="slides/slide5.xml" Type="http://schemas.openxmlformats.org/officeDocument/2006/relationships/slide"/><Relationship Id="rId35" Target="slides/slide6.xml" Type="http://schemas.openxmlformats.org/officeDocument/2006/relationships/slide"/><Relationship Id="rId36" Target="slides/slide7.xml" Type="http://schemas.openxmlformats.org/officeDocument/2006/relationships/slide"/><Relationship Id="rId37" Target="slides/slide8.xml" Type="http://schemas.openxmlformats.org/officeDocument/2006/relationships/slide"/><Relationship Id="rId38" Target="slides/slide9.xml" Type="http://schemas.openxmlformats.org/officeDocument/2006/relationships/slide"/><Relationship Id="rId39" Target="slides/slide10.xml" Type="http://schemas.openxmlformats.org/officeDocument/2006/relationships/slide"/><Relationship Id="rId4" Target="theme/theme1.xml" Type="http://schemas.openxmlformats.org/officeDocument/2006/relationships/theme"/><Relationship Id="rId40" Target="slides/slide11.xml" Type="http://schemas.openxmlformats.org/officeDocument/2006/relationships/slide"/><Relationship Id="rId41" Target="slides/slide12.xml" Type="http://schemas.openxmlformats.org/officeDocument/2006/relationships/slide"/><Relationship Id="rId42" Target="slides/slide13.xml" Type="http://schemas.openxmlformats.org/officeDocument/2006/relationships/slide"/><Relationship Id="rId43" Target="slides/slide14.xml" Type="http://schemas.openxmlformats.org/officeDocument/2006/relationships/slide"/><Relationship Id="rId44" Target="slides/slide15.xml" Type="http://schemas.openxmlformats.org/officeDocument/2006/relationships/slide"/><Relationship Id="rId45" Target="slides/slide16.xml" Type="http://schemas.openxmlformats.org/officeDocument/2006/relationships/slide"/><Relationship Id="rId46" Target="slides/slide17.xml" Type="http://schemas.openxmlformats.org/officeDocument/2006/relationships/slide"/><Relationship Id="rId47" Target="slides/slide18.xml" Type="http://schemas.openxmlformats.org/officeDocument/2006/relationships/slide"/><Relationship Id="rId48" Target="slides/slide19.xml" Type="http://schemas.openxmlformats.org/officeDocument/2006/relationships/slide"/><Relationship Id="rId49" Target="slides/slide20.xml" Type="http://schemas.openxmlformats.org/officeDocument/2006/relationships/slide"/><Relationship Id="rId5" Target="tableStyles.xml" Type="http://schemas.openxmlformats.org/officeDocument/2006/relationships/tableStyles"/><Relationship Id="rId50" Target="slides/slide21.xml" Type="http://schemas.openxmlformats.org/officeDocument/2006/relationships/slide"/><Relationship Id="rId51" Target="slides/slide22.xml" Type="http://schemas.openxmlformats.org/officeDocument/2006/relationships/slide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biplab-banerjee.github.io/index.html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google.com/search?sa=X&amp;biw=1879&amp;bih=962&amp;sxsrf=ALiCzsYuodNTy4waXLkM6ZderUyaq8ybww:1661685770981&amp;source=univ&amp;tbm=isch&amp;q=jupyter+note+logo&amp;client=opera-gx&amp;fir=_bXdErk3QufadM%252CpGh5LKRAZ1gfXM%252C_%253Bbr6wrKbxgkz7rM%252Cg7CiczZzIFk26M%252C_%253BGCbCtJG96BqiNM%252Cg7CiczZzIFk26M%252C_%253BQrEavc3HHMOICM%252CPZqSOpSDgf-73M%252C_%253BaqqVWyt2iGFd5M%252CERiw9cMQEEdzuM%252C_%253B_Z5XY-qc2hWbdM%252CRP_qZ8k6HVB78M%252C_%253ByopP3cKS5dGjFM%252CyassxPOChRuS9M%252C_%253BAaFv2gNHzZGhrM%252CNBYnn7uw2aZwnM%252C_%253BTiW57kzed2nNfM%252Cg7CiczZzIFk26M%252C_%253BOHh4yz44TtcxXM%252CfL5kmd8dhqlAkM%252C_&amp;usg=AI4_-kTcljaCPuLUG9-uElGvSPITSHgZcQ&amp;ved=2ahUKEwj72O3wten5AhXMxDgGHbLFCdcQjJkEegQIAhAC" TargetMode="External" Type="http://schemas.openxmlformats.org/officeDocument/2006/relationships/hyperlink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4E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61766" y="798294"/>
            <a:ext cx="2371685" cy="237168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451" t="0" r="-45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83413" y="971754"/>
            <a:ext cx="10961696" cy="196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AFAFA"/>
                </a:solidFill>
                <a:latin typeface="Prompt Light"/>
              </a:rPr>
              <a:t>Mahavir Education Trust's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AFAFA"/>
                </a:solidFill>
                <a:latin typeface="Prompt Light"/>
              </a:rPr>
              <a:t>SHAH &amp; ANCHOR KUTCHHI ENGINEERING COLLEGE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AFAFA"/>
                </a:solidFill>
                <a:latin typeface="Prompt Light"/>
              </a:rPr>
              <a:t>Chembur, Mumbai - 400088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AFAFA"/>
                </a:solidFill>
                <a:latin typeface="Prompt Light"/>
              </a:rPr>
              <a:t>UG Program in Computer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8513" y="3617696"/>
            <a:ext cx="17739487" cy="186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6"/>
              </a:lnSpc>
            </a:pPr>
            <a:r>
              <a:rPr lang="en-US" sz="5369">
                <a:solidFill>
                  <a:srgbClr val="FAFAFA"/>
                </a:solidFill>
                <a:latin typeface="Prompt Medium Bold"/>
              </a:rPr>
              <a:t>Hyperspectral Image Classification using Few Shot learning based on Prototypical Network</a:t>
            </a:r>
          </a:p>
        </p:txBody>
      </p:sp>
      <p:sp>
        <p:nvSpPr>
          <p:cNvPr name="TextBox 6" id="6"/>
          <p:cNvSpPr txBox="true"/>
          <p:nvPr/>
        </p:nvSpPr>
        <p:spPr>
          <a:xfrm rot="71829">
            <a:off x="358262" y="9529416"/>
            <a:ext cx="509499" cy="48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52"/>
              </a:lnSpc>
            </a:pPr>
            <a:r>
              <a:rPr lang="en-US" sz="2823">
                <a:solidFill>
                  <a:srgbClr val="FAFAFA"/>
                </a:solidFill>
                <a:latin typeface="Prompt Light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83413" y="6415859"/>
            <a:ext cx="7944190" cy="284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216">
                <a:solidFill>
                  <a:srgbClr val="FAFAFA"/>
                </a:solidFill>
                <a:latin typeface="Prompt Medium"/>
              </a:rPr>
              <a:t>Guided by </a:t>
            </a:r>
          </a:p>
          <a:p>
            <a:pPr>
              <a:lnSpc>
                <a:spcPts val="4503"/>
              </a:lnSpc>
            </a:pPr>
            <a:r>
              <a:rPr lang="en-US" sz="3216">
                <a:solidFill>
                  <a:srgbClr val="FAFAFA"/>
                </a:solidFill>
                <a:latin typeface="Prompt Medium"/>
              </a:rPr>
              <a:t>1)  Dr. Manimala Mahato </a:t>
            </a:r>
          </a:p>
          <a:p>
            <a:pPr>
              <a:lnSpc>
                <a:spcPts val="4503"/>
              </a:lnSpc>
            </a:pPr>
            <a:r>
              <a:rPr lang="en-US" sz="3216">
                <a:solidFill>
                  <a:srgbClr val="FAFAFA"/>
                </a:solidFill>
                <a:latin typeface="Prompt Medium"/>
              </a:rPr>
              <a:t>    (Associate Professor at SAKEC)</a:t>
            </a:r>
          </a:p>
          <a:p>
            <a:pPr>
              <a:lnSpc>
                <a:spcPts val="4503"/>
              </a:lnSpc>
            </a:pPr>
            <a:r>
              <a:rPr lang="en-US" sz="3216">
                <a:solidFill>
                  <a:srgbClr val="FAFAFA"/>
                </a:solidFill>
                <a:latin typeface="Prompt Medium"/>
              </a:rPr>
              <a:t>2) </a:t>
            </a:r>
            <a:r>
              <a:rPr lang="en-US" sz="3216">
                <a:solidFill>
                  <a:srgbClr val="FAFAFA"/>
                </a:solidFill>
                <a:latin typeface="Prompt Medium"/>
                <a:hlinkClick r:id="rId3" tooltip="https://biplab-banerjee.github.io/index.html"/>
              </a:rPr>
              <a:t>Dr.</a:t>
            </a:r>
            <a:r>
              <a:rPr lang="en-US" sz="3216">
                <a:solidFill>
                  <a:srgbClr val="FAFAFA"/>
                </a:solidFill>
                <a:latin typeface="Prompt Medium"/>
              </a:rPr>
              <a:t> Biplab Banerjee</a:t>
            </a:r>
          </a:p>
          <a:p>
            <a:pPr algn="l">
              <a:lnSpc>
                <a:spcPts val="4503"/>
              </a:lnSpc>
            </a:pPr>
            <a:r>
              <a:rPr lang="en-US" sz="3216">
                <a:solidFill>
                  <a:srgbClr val="FAFAFA"/>
                </a:solidFill>
                <a:latin typeface="Prompt Medium"/>
              </a:rPr>
              <a:t>    (Associate Professor at IIT Bombay)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6364161">
            <a:off x="-5172596" y="5655641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364161">
            <a:off x="15182345" y="-5735163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4E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804293" y="1743075"/>
          <a:ext cx="12375364" cy="6800850"/>
        </p:xfrm>
        <a:graphic>
          <a:graphicData uri="http://schemas.openxmlformats.org/drawingml/2006/table">
            <a:tbl>
              <a:tblPr/>
              <a:tblGrid>
                <a:gridCol w="5259845"/>
                <a:gridCol w="3557760"/>
                <a:gridCol w="3557760"/>
              </a:tblGrid>
              <a:tr h="136017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Roll 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017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Tex Gyre Termes Bold"/>
                        </a:rPr>
                        <a:t>Adit Chheda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BE9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Tex Gyre Termes Bold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017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Tex Gyre Termes Bold"/>
                        </a:rPr>
                        <a:t>Mayank Kantharia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BE9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Tex Gyre Termes Bold"/>
                        </a:rPr>
                        <a:t>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017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Aditya Shah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BE9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Tex Gyre Termes Bold"/>
                        </a:rPr>
                        <a:t>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017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Shivam Jadhav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 u="none">
                          <a:solidFill>
                            <a:srgbClr val="FFFFFF"/>
                          </a:solidFill>
                          <a:latin typeface="Tex Gyre Termes Bold"/>
                        </a:rPr>
                        <a:t>BE9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61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99">
                          <a:solidFill>
                            <a:srgbClr val="FFFFFF"/>
                          </a:solidFill>
                          <a:latin typeface="Tex Gyre Termes Bold"/>
                        </a:rPr>
                        <a:t>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149703" y="608329"/>
            <a:ext cx="3988594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9"/>
              </a:lnSpc>
              <a:spcBef>
                <a:spcPct val="0"/>
              </a:spcBef>
            </a:pPr>
            <a:r>
              <a:rPr lang="en-US" sz="4399" u="none">
                <a:solidFill>
                  <a:srgbClr val="FFFFFF"/>
                </a:solidFill>
                <a:latin typeface="Tex Gyre Termes Bold"/>
              </a:rPr>
              <a:t>Group Members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6364161">
            <a:off x="-5172596" y="5655641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364161">
            <a:off x="15182345" y="-5735163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137894" cy="10287000"/>
          </a:xfrm>
          <a:prstGeom prst="rect">
            <a:avLst/>
          </a:prstGeom>
          <a:solidFill>
            <a:srgbClr val="544EC6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05750" y="4476158"/>
            <a:ext cx="5126393" cy="13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800">
                <a:solidFill>
                  <a:srgbClr val="FAFAFA"/>
                </a:solidFill>
                <a:latin typeface="Prompt Medium Bold"/>
              </a:rPr>
              <a:t>Abs</a:t>
            </a:r>
            <a:r>
              <a:rPr lang="en-US" sz="8800">
                <a:solidFill>
                  <a:srgbClr val="FAFAFA"/>
                </a:solidFill>
                <a:latin typeface="Prompt Medium Bold"/>
              </a:rPr>
              <a:t>tract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36871" y="3126869"/>
            <a:ext cx="5942562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Hyperspectral images (HSI)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36871" y="5246167"/>
            <a:ext cx="6422040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Few-shot Learning (FSL)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36871" y="7124893"/>
            <a:ext cx="7570079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Stable Prototypical Network (SPN)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62950" y="2969167"/>
            <a:ext cx="984455" cy="984455"/>
            <a:chOff x="0" y="0"/>
            <a:chExt cx="1312606" cy="1312606"/>
          </a:xfrm>
        </p:grpSpPr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62950" y="5088465"/>
            <a:ext cx="984455" cy="984455"/>
            <a:chOff x="0" y="0"/>
            <a:chExt cx="1312606" cy="1312606"/>
          </a:xfrm>
        </p:grpSpPr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62950" y="6969639"/>
            <a:ext cx="984455" cy="984455"/>
            <a:chOff x="0" y="0"/>
            <a:chExt cx="1312606" cy="1312606"/>
          </a:xfrm>
        </p:grpSpPr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03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6364161">
            <a:off x="15029945" y="-5887563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6364161">
            <a:off x="15182345" y="-5735163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6364161">
            <a:off x="-5172596" y="5655641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47715" y="4489998"/>
            <a:ext cx="509079" cy="50907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47715" y="6308674"/>
            <a:ext cx="509079" cy="50907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47715" y="7245986"/>
            <a:ext cx="509079" cy="509079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47715" y="5390165"/>
            <a:ext cx="509079" cy="50907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685521" y="560694"/>
            <a:ext cx="3725366" cy="3715838"/>
          </a:xfrm>
          <a:custGeom>
            <a:avLst/>
            <a:gdLst/>
            <a:ahLst/>
            <a:cxnLst/>
            <a:rect r="r" b="b" t="t" l="l"/>
            <a:pathLst>
              <a:path h="3715838" w="3725366">
                <a:moveTo>
                  <a:pt x="0" y="0"/>
                </a:moveTo>
                <a:lnTo>
                  <a:pt x="3725366" y="0"/>
                </a:lnTo>
                <a:lnTo>
                  <a:pt x="3725366" y="3715838"/>
                </a:lnTo>
                <a:lnTo>
                  <a:pt x="0" y="3715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64826" y="1751271"/>
            <a:ext cx="6758348" cy="13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800">
                <a:solidFill>
                  <a:srgbClr val="544EC6"/>
                </a:solidFill>
                <a:latin typeface="Prompt Medium Bold"/>
              </a:rPr>
              <a:t>Intr</a:t>
            </a:r>
            <a:r>
              <a:rPr lang="en-US" sz="8800">
                <a:solidFill>
                  <a:srgbClr val="544EC6"/>
                </a:solidFill>
                <a:latin typeface="Prompt Medium Bold"/>
              </a:rPr>
              <a:t>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5127" y="4423323"/>
            <a:ext cx="8631810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Hyperspectral Imaging (HSI)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5127" y="5310179"/>
            <a:ext cx="5230396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SPN: Few Shot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5127" y="6228688"/>
            <a:ext cx="3623548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>
                <a:solidFill>
                  <a:srgbClr val="544EC6"/>
                </a:solidFill>
                <a:latin typeface="Prompt Light"/>
              </a:rPr>
              <a:t>Attention Layer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75127" y="7166000"/>
            <a:ext cx="4559837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Temperature Scaling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64161">
            <a:off x="-6350932" y="-4462706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79021" y="1028700"/>
            <a:ext cx="1951544" cy="1628653"/>
          </a:xfrm>
          <a:custGeom>
            <a:avLst/>
            <a:gdLst/>
            <a:ahLst/>
            <a:cxnLst/>
            <a:rect r="r" b="b" t="t" l="l"/>
            <a:pathLst>
              <a:path h="1628653" w="1951544">
                <a:moveTo>
                  <a:pt x="0" y="0"/>
                </a:moveTo>
                <a:lnTo>
                  <a:pt x="1951545" y="0"/>
                </a:lnTo>
                <a:lnTo>
                  <a:pt x="1951545" y="1628653"/>
                </a:lnTo>
                <a:lnTo>
                  <a:pt x="0" y="1628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520584"/>
            <a:ext cx="16230600" cy="177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73"/>
              </a:lnSpc>
              <a:spcBef>
                <a:spcPct val="0"/>
              </a:spcBef>
            </a:pPr>
            <a:r>
              <a:rPr lang="en-US" sz="3409">
                <a:solidFill>
                  <a:srgbClr val="544EC6"/>
                </a:solidFill>
                <a:latin typeface="Prompt Light Bold"/>
              </a:rPr>
              <a:t>1.</a:t>
            </a:r>
            <a:r>
              <a:rPr lang="en-US" sz="3409">
                <a:solidFill>
                  <a:srgbClr val="544EC6"/>
                </a:solidFill>
                <a:latin typeface="Prompt Light Bold"/>
              </a:rPr>
              <a:t>Title of </a:t>
            </a:r>
            <a:r>
              <a:rPr lang="en-US" sz="3409">
                <a:solidFill>
                  <a:srgbClr val="544EC6"/>
                </a:solidFill>
                <a:latin typeface="Prompt Light Bold"/>
              </a:rPr>
              <a:t>Paper:</a:t>
            </a:r>
            <a:r>
              <a:rPr lang="en-US" sz="3409">
                <a:solidFill>
                  <a:srgbClr val="544EC6"/>
                </a:solidFill>
                <a:latin typeface="Prompt Light Bold"/>
              </a:rPr>
              <a:t> </a:t>
            </a:r>
            <a:r>
              <a:rPr lang="en-US" sz="3409">
                <a:solidFill>
                  <a:srgbClr val="544EC6"/>
                </a:solidFill>
                <a:latin typeface="Prompt Light Bold"/>
              </a:rPr>
              <a:t>-</a:t>
            </a:r>
            <a:r>
              <a:rPr lang="en-US" sz="3409">
                <a:solidFill>
                  <a:srgbClr val="544EC6"/>
                </a:solidFill>
                <a:latin typeface="Prompt Light"/>
              </a:rPr>
              <a:t> </a:t>
            </a:r>
            <a:r>
              <a:rPr lang="en-US" sz="3409">
                <a:solidFill>
                  <a:srgbClr val="544EC6"/>
                </a:solidFill>
                <a:latin typeface="Prompt Light"/>
              </a:rPr>
              <a:t>SPN: Stable Prototypical Network for Few-Shot Learning-Based Hyperspectral Image Classification</a:t>
            </a:r>
          </a:p>
          <a:p>
            <a:pPr algn="l">
              <a:lnSpc>
                <a:spcPts val="4773"/>
              </a:lnSpc>
              <a:spcBef>
                <a:spcPct val="0"/>
              </a:spcBef>
            </a:pPr>
            <a:r>
              <a:rPr lang="en-US" sz="3409">
                <a:solidFill>
                  <a:srgbClr val="544EC6"/>
                </a:solidFill>
                <a:latin typeface="Prompt Light Bold"/>
              </a:rPr>
              <a:t>Authors</a:t>
            </a:r>
            <a:r>
              <a:rPr lang="en-US" sz="3409">
                <a:solidFill>
                  <a:srgbClr val="544EC6"/>
                </a:solidFill>
                <a:latin typeface="Prompt Light"/>
              </a:rPr>
              <a:t>: - Debabrata Pal, Valay Bundele, Biplab </a:t>
            </a:r>
            <a:r>
              <a:rPr lang="en-US" sz="3409">
                <a:solidFill>
                  <a:srgbClr val="544EC6"/>
                </a:solidFill>
                <a:latin typeface="Prompt Light"/>
              </a:rPr>
              <a:t>Banerjee,Yogananda Jeppu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69964" y="1028700"/>
            <a:ext cx="9748071" cy="13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800">
                <a:solidFill>
                  <a:srgbClr val="544EC6"/>
                </a:solidFill>
                <a:latin typeface="Prompt Medium Bold"/>
              </a:rPr>
              <a:t>Literat</a:t>
            </a:r>
            <a:r>
              <a:rPr lang="en-US" sz="8800">
                <a:solidFill>
                  <a:srgbClr val="544EC6"/>
                </a:solidFill>
                <a:latin typeface="Prompt Medium Bold"/>
              </a:rPr>
              <a:t>ure Review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364161">
            <a:off x="14205945" y="7002019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053415"/>
            <a:ext cx="16230600" cy="24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918"/>
              </a:lnSpc>
              <a:spcBef>
                <a:spcPct val="0"/>
              </a:spcBef>
            </a:pPr>
            <a:r>
              <a:rPr lang="en-US" sz="3513">
                <a:solidFill>
                  <a:srgbClr val="544EC6"/>
                </a:solidFill>
                <a:latin typeface="Prompt Light Bold"/>
              </a:rPr>
              <a:t>2. </a:t>
            </a:r>
            <a:r>
              <a:rPr lang="en-US" sz="3513">
                <a:solidFill>
                  <a:srgbClr val="544EC6"/>
                </a:solidFill>
                <a:latin typeface="Prompt Light Bold"/>
              </a:rPr>
              <a:t>Title of </a:t>
            </a:r>
            <a:r>
              <a:rPr lang="en-US" sz="3513">
                <a:solidFill>
                  <a:srgbClr val="544EC6"/>
                </a:solidFill>
                <a:latin typeface="Prompt Light Bold"/>
              </a:rPr>
              <a:t>Paper:</a:t>
            </a:r>
            <a:r>
              <a:rPr lang="en-US" sz="3513">
                <a:solidFill>
                  <a:srgbClr val="544EC6"/>
                </a:solidFill>
                <a:latin typeface="Prompt Light Bold"/>
              </a:rPr>
              <a:t> </a:t>
            </a:r>
            <a:r>
              <a:rPr lang="en-US" sz="3513">
                <a:solidFill>
                  <a:srgbClr val="544EC6"/>
                </a:solidFill>
                <a:latin typeface="Prompt Light Bold"/>
              </a:rPr>
              <a:t>-</a:t>
            </a:r>
            <a:r>
              <a:rPr lang="en-US" sz="3513">
                <a:solidFill>
                  <a:srgbClr val="544EC6"/>
                </a:solidFill>
                <a:latin typeface="Prompt Light"/>
              </a:rPr>
              <a:t> GAF-Net: Improving the Performance of Remote Sensing Image Fusion using Novel Global Self and Cross Attention Learning</a:t>
            </a:r>
          </a:p>
          <a:p>
            <a:pPr algn="l">
              <a:lnSpc>
                <a:spcPts val="4918"/>
              </a:lnSpc>
              <a:spcBef>
                <a:spcPct val="0"/>
              </a:spcBef>
            </a:pPr>
            <a:r>
              <a:rPr lang="en-US" sz="3513">
                <a:solidFill>
                  <a:srgbClr val="544EC6"/>
                </a:solidFill>
                <a:latin typeface="Prompt Light Bold"/>
              </a:rPr>
              <a:t>Authors</a:t>
            </a:r>
            <a:r>
              <a:rPr lang="en-US" sz="3513">
                <a:solidFill>
                  <a:srgbClr val="544EC6"/>
                </a:solidFill>
                <a:latin typeface="Prompt Light"/>
              </a:rPr>
              <a:t>: - Ankit Jha, Shirsha Bose, Biplab Banerjee</a:t>
            </a:r>
            <a:r>
              <a:rPr lang="en-US" sz="3513">
                <a:solidFill>
                  <a:srgbClr val="544EC6"/>
                </a:solidFill>
                <a:latin typeface="Prompt Light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566465"/>
            <a:ext cx="1307625" cy="2048986"/>
          </a:xfrm>
          <a:custGeom>
            <a:avLst/>
            <a:gdLst/>
            <a:ahLst/>
            <a:cxnLst/>
            <a:rect r="r" b="b" t="t" l="l"/>
            <a:pathLst>
              <a:path h="2048986" w="1307625">
                <a:moveTo>
                  <a:pt x="0" y="0"/>
                </a:moveTo>
                <a:lnTo>
                  <a:pt x="1307625" y="0"/>
                </a:lnTo>
                <a:lnTo>
                  <a:pt x="1307625" y="2048986"/>
                </a:lnTo>
                <a:lnTo>
                  <a:pt x="0" y="2048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3840" y="5143500"/>
            <a:ext cx="8890496" cy="2659468"/>
          </a:xfrm>
          <a:custGeom>
            <a:avLst/>
            <a:gdLst/>
            <a:ahLst/>
            <a:cxnLst/>
            <a:rect r="r" b="b" t="t" l="l"/>
            <a:pathLst>
              <a:path h="2659468" w="8890496">
                <a:moveTo>
                  <a:pt x="0" y="0"/>
                </a:moveTo>
                <a:lnTo>
                  <a:pt x="8890496" y="0"/>
                </a:lnTo>
                <a:lnTo>
                  <a:pt x="8890496" y="2659468"/>
                </a:lnTo>
                <a:lnTo>
                  <a:pt x="0" y="2659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93637"/>
            <a:ext cx="16065759" cy="203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438"/>
              </a:lnSpc>
              <a:spcBef>
                <a:spcPct val="0"/>
              </a:spcBef>
            </a:pPr>
            <a:r>
              <a:rPr lang="en-US" sz="3884">
                <a:solidFill>
                  <a:srgbClr val="544EC6"/>
                </a:solidFill>
                <a:latin typeface="Prompt Light"/>
              </a:rPr>
              <a:t>  3.</a:t>
            </a:r>
            <a:r>
              <a:rPr lang="en-US" sz="3884">
                <a:solidFill>
                  <a:srgbClr val="544EC6"/>
                </a:solidFill>
                <a:latin typeface="Prompt Light"/>
              </a:rPr>
              <a:t>  </a:t>
            </a:r>
            <a:r>
              <a:rPr lang="en-US" sz="3884">
                <a:solidFill>
                  <a:srgbClr val="544EC6"/>
                </a:solidFill>
                <a:latin typeface="Prompt Light Bold"/>
              </a:rPr>
              <a:t>Title of Paper</a:t>
            </a:r>
            <a:r>
              <a:rPr lang="en-US" sz="3884">
                <a:solidFill>
                  <a:srgbClr val="544EC6"/>
                </a:solidFill>
                <a:latin typeface="Prompt Light"/>
              </a:rPr>
              <a:t> : - Prototypical Networks for Few-shot Learning</a:t>
            </a:r>
          </a:p>
          <a:p>
            <a:pPr>
              <a:lnSpc>
                <a:spcPts val="5438"/>
              </a:lnSpc>
              <a:spcBef>
                <a:spcPct val="0"/>
              </a:spcBef>
            </a:pPr>
            <a:r>
              <a:rPr lang="en-US" sz="3884">
                <a:solidFill>
                  <a:srgbClr val="544EC6"/>
                </a:solidFill>
                <a:latin typeface="Prompt Light"/>
              </a:rPr>
              <a:t>      </a:t>
            </a:r>
          </a:p>
          <a:p>
            <a:pPr>
              <a:lnSpc>
                <a:spcPts val="5438"/>
              </a:lnSpc>
              <a:spcBef>
                <a:spcPct val="0"/>
              </a:spcBef>
            </a:pPr>
            <a:r>
              <a:rPr lang="en-US" sz="3884">
                <a:solidFill>
                  <a:srgbClr val="544EC6"/>
                </a:solidFill>
                <a:latin typeface="Prompt Light"/>
              </a:rPr>
              <a:t>      </a:t>
            </a:r>
            <a:r>
              <a:rPr lang="en-US" sz="3884">
                <a:solidFill>
                  <a:srgbClr val="544EC6"/>
                </a:solidFill>
                <a:latin typeface="Prompt Light Bold"/>
              </a:rPr>
              <a:t>Authors</a:t>
            </a:r>
            <a:r>
              <a:rPr lang="en-US" sz="3884">
                <a:solidFill>
                  <a:srgbClr val="544EC6"/>
                </a:solidFill>
                <a:latin typeface="Prompt Light"/>
              </a:rPr>
              <a:t> : - Jake Snell, Kevin Swersky &amp; Richard Zemel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4712730">
            <a:off x="-2542619" y="-5386351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12730">
            <a:off x="-2298376" y="-4946713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65027" y="7449116"/>
            <a:ext cx="7757945" cy="2382017"/>
          </a:xfrm>
          <a:custGeom>
            <a:avLst/>
            <a:gdLst/>
            <a:ahLst/>
            <a:cxnLst/>
            <a:rect r="r" b="b" t="t" l="l"/>
            <a:pathLst>
              <a:path h="2382017" w="7757945">
                <a:moveTo>
                  <a:pt x="0" y="0"/>
                </a:moveTo>
                <a:lnTo>
                  <a:pt x="7757946" y="0"/>
                </a:lnTo>
                <a:lnTo>
                  <a:pt x="7757946" y="2382017"/>
                </a:lnTo>
                <a:lnTo>
                  <a:pt x="0" y="2382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309862"/>
            <a:ext cx="16339959" cy="35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544EC6"/>
                </a:solidFill>
                <a:latin typeface="Prompt Light"/>
              </a:rPr>
              <a:t>  4.</a:t>
            </a:r>
            <a:r>
              <a:rPr lang="en-US" sz="4119">
                <a:solidFill>
                  <a:srgbClr val="544EC6"/>
                </a:solidFill>
                <a:latin typeface="Prompt Light"/>
              </a:rPr>
              <a:t>  </a:t>
            </a:r>
            <a:r>
              <a:rPr lang="en-US" sz="4119">
                <a:solidFill>
                  <a:srgbClr val="544EC6"/>
                </a:solidFill>
                <a:latin typeface="Prompt Light Bold"/>
              </a:rPr>
              <a:t>Title of Paper</a:t>
            </a:r>
            <a:r>
              <a:rPr lang="en-US" sz="4119">
                <a:solidFill>
                  <a:srgbClr val="544EC6"/>
                </a:solidFill>
                <a:latin typeface="Prompt Light"/>
              </a:rPr>
              <a:t> : -Controlled Dropout: a Different Approach</a:t>
            </a:r>
          </a:p>
          <a:p>
            <a:pPr algn="just"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544EC6"/>
                </a:solidFill>
                <a:latin typeface="Prompt Light"/>
              </a:rPr>
              <a:t>      to Using Dropout on Deep Neural Network</a:t>
            </a:r>
          </a:p>
          <a:p>
            <a:pPr algn="just"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544EC6"/>
                </a:solidFill>
                <a:latin typeface="Prompt Light"/>
              </a:rPr>
              <a:t>   </a:t>
            </a:r>
          </a:p>
          <a:p>
            <a:pPr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544EC6"/>
                </a:solidFill>
                <a:latin typeface="Prompt Light"/>
              </a:rPr>
              <a:t>      </a:t>
            </a:r>
            <a:r>
              <a:rPr lang="en-US" sz="4119">
                <a:solidFill>
                  <a:srgbClr val="544EC6"/>
                </a:solidFill>
                <a:latin typeface="Prompt Light Bold"/>
              </a:rPr>
              <a:t>Authors</a:t>
            </a:r>
            <a:r>
              <a:rPr lang="en-US" sz="4119">
                <a:solidFill>
                  <a:srgbClr val="544EC6"/>
                </a:solidFill>
                <a:latin typeface="Prompt Light"/>
              </a:rPr>
              <a:t> : - ByungSoo Ko, Han-Gyu Kim, Kyo-Joong</a:t>
            </a:r>
          </a:p>
          <a:p>
            <a:pPr>
              <a:lnSpc>
                <a:spcPts val="5766"/>
              </a:lnSpc>
              <a:spcBef>
                <a:spcPct val="0"/>
              </a:spcBef>
            </a:pPr>
            <a:r>
              <a:rPr lang="en-US" sz="4119">
                <a:solidFill>
                  <a:srgbClr val="544EC6"/>
                </a:solidFill>
                <a:latin typeface="Prompt Light"/>
              </a:rPr>
              <a:t>      Oh &amp; Ho-Jin Choi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4E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6323" y="1606672"/>
            <a:ext cx="824027" cy="1453846"/>
          </a:xfrm>
          <a:custGeom>
            <a:avLst/>
            <a:gdLst/>
            <a:ahLst/>
            <a:cxnLst/>
            <a:rect r="r" b="b" t="t" l="l"/>
            <a:pathLst>
              <a:path h="1453846" w="824027">
                <a:moveTo>
                  <a:pt x="0" y="0"/>
                </a:moveTo>
                <a:lnTo>
                  <a:pt x="824027" y="0"/>
                </a:lnTo>
                <a:lnTo>
                  <a:pt x="824027" y="1453846"/>
                </a:lnTo>
                <a:lnTo>
                  <a:pt x="0" y="145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7714" y="3648597"/>
            <a:ext cx="15492573" cy="691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0"/>
              </a:lnSpc>
            </a:pPr>
            <a:r>
              <a:rPr lang="en-US" sz="4036">
                <a:solidFill>
                  <a:srgbClr val="FAFAFA"/>
                </a:solidFill>
                <a:latin typeface="Prompt Light"/>
              </a:rPr>
              <a:t>Hyperspectral Image Classification faces the challenge of small datasets, which can result in   overfitting and poor generalization to new data. To address this issue, we aim to apply and enhance a state-of-the-art Few-Shot Learning method, Stable Prototypical Network (SPN), with Temperature Scaling and Attention Layer to improve the accuracy of Hyperspectral Image Classification with minimal training samples.</a:t>
            </a:r>
          </a:p>
          <a:p>
            <a:pPr algn="just">
              <a:lnSpc>
                <a:spcPts val="4810"/>
              </a:lnSpc>
            </a:pPr>
          </a:p>
          <a:p>
            <a:pPr algn="just">
              <a:lnSpc>
                <a:spcPts val="4810"/>
              </a:lnSpc>
            </a:pPr>
            <a:r>
              <a:rPr lang="en-US" sz="3436">
                <a:solidFill>
                  <a:srgbClr val="FAFAFA"/>
                </a:solidFill>
                <a:latin typeface="Prompt Light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20339" y="1666252"/>
            <a:ext cx="10247322" cy="13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59"/>
              </a:lnSpc>
            </a:pPr>
            <a:r>
              <a:rPr lang="en-US" sz="8799">
                <a:solidFill>
                  <a:srgbClr val="FAFAFA"/>
                </a:solidFill>
                <a:latin typeface="Prompt Medium Bold"/>
              </a:rPr>
              <a:t>P</a:t>
            </a:r>
            <a:r>
              <a:rPr lang="en-US" sz="8799">
                <a:solidFill>
                  <a:srgbClr val="FAFAFA"/>
                </a:solidFill>
                <a:latin typeface="Prompt Medium Bold"/>
              </a:rPr>
              <a:t>roblem Definition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4E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059" y="1182887"/>
            <a:ext cx="984455" cy="984455"/>
            <a:chOff x="0" y="0"/>
            <a:chExt cx="1312606" cy="1312606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0059" y="3378202"/>
            <a:ext cx="984455" cy="984455"/>
            <a:chOff x="0" y="0"/>
            <a:chExt cx="1312606" cy="131260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70059" y="5854801"/>
            <a:ext cx="984455" cy="984455"/>
            <a:chOff x="0" y="0"/>
            <a:chExt cx="1312606" cy="1312606"/>
          </a:xfrm>
        </p:grpSpPr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0059" y="8048933"/>
            <a:ext cx="984455" cy="984455"/>
            <a:chOff x="0" y="0"/>
            <a:chExt cx="1312606" cy="1312606"/>
          </a:xfrm>
        </p:grpSpPr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04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836317" y="4270578"/>
            <a:ext cx="1705772" cy="4114800"/>
          </a:xfrm>
          <a:custGeom>
            <a:avLst/>
            <a:gdLst/>
            <a:ahLst/>
            <a:cxnLst/>
            <a:rect r="r" b="b" t="t" l="l"/>
            <a:pathLst>
              <a:path h="4114800" w="1705772">
                <a:moveTo>
                  <a:pt x="0" y="0"/>
                </a:moveTo>
                <a:lnTo>
                  <a:pt x="1705772" y="0"/>
                </a:lnTo>
                <a:lnTo>
                  <a:pt x="17057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641123" y="2570133"/>
            <a:ext cx="6096160" cy="13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60"/>
              </a:lnSpc>
            </a:pPr>
            <a:r>
              <a:rPr lang="en-US" sz="8800">
                <a:solidFill>
                  <a:srgbClr val="FAFAFA"/>
                </a:solidFill>
                <a:latin typeface="Prompt Medium Bold"/>
              </a:rPr>
              <a:t>Obj</a:t>
            </a:r>
            <a:r>
              <a:rPr lang="en-US" sz="8800">
                <a:solidFill>
                  <a:srgbClr val="FAFAFA"/>
                </a:solidFill>
                <a:latin typeface="Prompt Medium Bold"/>
              </a:rPr>
              <a:t>ectives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85717" y="5349760"/>
            <a:ext cx="6699642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Prompt Light"/>
              </a:rPr>
              <a:t>Reduce the overfitting problem of the Few Shot Learning (FSL) systems.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85717" y="2926600"/>
            <a:ext cx="6699642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Prompt Light"/>
              </a:rPr>
              <a:t>Reducing the effect of 'curse of dimensionality' from Hyperspectral Images.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85717" y="7772920"/>
            <a:ext cx="6699642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AFAFA"/>
                </a:solidFill>
                <a:latin typeface="Prompt Light"/>
              </a:rPr>
              <a:t>Improve SPN using Temperature Scaling and Attention layer.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14292" y="996935"/>
            <a:ext cx="6671067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Prompt Light"/>
              </a:rPr>
              <a:t>To extract useful information from few training samples.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12730">
            <a:off x="-2298376" y="-4946713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56933" y="1168985"/>
            <a:ext cx="1654217" cy="1257205"/>
          </a:xfrm>
          <a:custGeom>
            <a:avLst/>
            <a:gdLst/>
            <a:ahLst/>
            <a:cxnLst/>
            <a:rect r="r" b="b" t="t" l="l"/>
            <a:pathLst>
              <a:path h="1257205" w="1654217">
                <a:moveTo>
                  <a:pt x="0" y="0"/>
                </a:moveTo>
                <a:lnTo>
                  <a:pt x="1654218" y="0"/>
                </a:lnTo>
                <a:lnTo>
                  <a:pt x="1654218" y="1257205"/>
                </a:lnTo>
                <a:lnTo>
                  <a:pt x="0" y="1257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60976" y="1168985"/>
            <a:ext cx="337732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559"/>
              </a:lnSpc>
            </a:pPr>
            <a:r>
              <a:rPr lang="en-US" sz="8799">
                <a:solidFill>
                  <a:srgbClr val="544EC6"/>
                </a:solidFill>
                <a:latin typeface="Prompt Medium Bold"/>
              </a:rPr>
              <a:t>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979" y="3636775"/>
            <a:ext cx="16619321" cy="67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544EC6"/>
                </a:solidFill>
                <a:latin typeface="Prompt Light"/>
              </a:rPr>
              <a:t>Research and implementation of Few-Shot Learning techniques, specifically the prototypical network approach, for Hyperspectral Image Classification.</a:t>
            </a:r>
          </a:p>
          <a:p>
            <a:pPr algn="just">
              <a:lnSpc>
                <a:spcPts val="4480"/>
              </a:lnSpc>
            </a:pPr>
          </a:p>
          <a:p>
            <a:pPr algn="just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544EC6"/>
                </a:solidFill>
                <a:latin typeface="Prompt Light"/>
              </a:rPr>
              <a:t>Collection and preparation of a small dataset of Hyperspectral Images for training and testing the model.</a:t>
            </a:r>
          </a:p>
          <a:p>
            <a:pPr algn="just">
              <a:lnSpc>
                <a:spcPts val="4480"/>
              </a:lnSpc>
            </a:pPr>
          </a:p>
          <a:p>
            <a:pPr algn="just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544EC6"/>
                </a:solidFill>
                <a:latin typeface="Prompt Light"/>
              </a:rPr>
              <a:t>Development and optimization of a prototypical network model for Few-Shot Learning in Hyperspectral Image Classification.</a:t>
            </a:r>
          </a:p>
          <a:p>
            <a:pPr algn="just">
              <a:lnSpc>
                <a:spcPts val="4480"/>
              </a:lnSpc>
            </a:pPr>
          </a:p>
          <a:p>
            <a:pPr algn="just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544EC6"/>
                </a:solidFill>
                <a:latin typeface="Prompt Light"/>
              </a:rPr>
              <a:t>Evaluation of the model’s performance and accuracy in classifying Hyperspectral Images with minimal training samples.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998182" y="3608644"/>
            <a:ext cx="1077077" cy="107707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039100" y="5560598"/>
            <a:ext cx="1077077" cy="1077077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34400" y="3727319"/>
            <a:ext cx="844334" cy="839728"/>
          </a:xfrm>
          <a:custGeom>
            <a:avLst/>
            <a:gdLst/>
            <a:ahLst/>
            <a:cxnLst/>
            <a:rect r="r" b="b" t="t" l="l"/>
            <a:pathLst>
              <a:path h="839728" w="844334">
                <a:moveTo>
                  <a:pt x="0" y="0"/>
                </a:moveTo>
                <a:lnTo>
                  <a:pt x="844333" y="0"/>
                </a:lnTo>
                <a:lnTo>
                  <a:pt x="844333" y="839728"/>
                </a:lnTo>
                <a:lnTo>
                  <a:pt x="0" y="839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039100" y="3727319"/>
            <a:ext cx="1077077" cy="1077077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248162" y="3936381"/>
            <a:ext cx="658952" cy="658952"/>
          </a:xfrm>
          <a:custGeom>
            <a:avLst/>
            <a:gdLst/>
            <a:ahLst/>
            <a:cxnLst/>
            <a:rect r="r" b="b" t="t" l="l"/>
            <a:pathLst>
              <a:path h="658952" w="658952">
                <a:moveTo>
                  <a:pt x="0" y="0"/>
                </a:moveTo>
                <a:lnTo>
                  <a:pt x="658953" y="0"/>
                </a:lnTo>
                <a:lnTo>
                  <a:pt x="658953" y="658952"/>
                </a:lnTo>
                <a:lnTo>
                  <a:pt x="0" y="658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50409" y="5696818"/>
            <a:ext cx="694151" cy="804637"/>
          </a:xfrm>
          <a:custGeom>
            <a:avLst/>
            <a:gdLst/>
            <a:ahLst/>
            <a:cxnLst/>
            <a:rect r="r" b="b" t="t" l="l"/>
            <a:pathLst>
              <a:path h="804637" w="694151">
                <a:moveTo>
                  <a:pt x="0" y="0"/>
                </a:moveTo>
                <a:lnTo>
                  <a:pt x="694151" y="0"/>
                </a:lnTo>
                <a:lnTo>
                  <a:pt x="694151" y="804637"/>
                </a:lnTo>
                <a:lnTo>
                  <a:pt x="0" y="804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998182" y="4867579"/>
            <a:ext cx="1077077" cy="1077077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234823" y="5000587"/>
            <a:ext cx="603794" cy="811061"/>
          </a:xfrm>
          <a:custGeom>
            <a:avLst/>
            <a:gdLst/>
            <a:ahLst/>
            <a:cxnLst/>
            <a:rect r="r" b="b" t="t" l="l"/>
            <a:pathLst>
              <a:path h="811061" w="603794">
                <a:moveTo>
                  <a:pt x="0" y="0"/>
                </a:moveTo>
                <a:lnTo>
                  <a:pt x="603794" y="0"/>
                </a:lnTo>
                <a:lnTo>
                  <a:pt x="603794" y="811061"/>
                </a:lnTo>
                <a:lnTo>
                  <a:pt x="0" y="811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8640" t="0" r="-295824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998182" y="6132052"/>
            <a:ext cx="1077077" cy="1077077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177828" y="6246352"/>
            <a:ext cx="717784" cy="767431"/>
          </a:xfrm>
          <a:custGeom>
            <a:avLst/>
            <a:gdLst/>
            <a:ahLst/>
            <a:cxnLst/>
            <a:rect r="r" b="b" t="t" l="l"/>
            <a:pathLst>
              <a:path h="767431" w="717784">
                <a:moveTo>
                  <a:pt x="0" y="0"/>
                </a:moveTo>
                <a:lnTo>
                  <a:pt x="717784" y="0"/>
                </a:lnTo>
                <a:lnTo>
                  <a:pt x="717784" y="767431"/>
                </a:lnTo>
                <a:lnTo>
                  <a:pt x="0" y="767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998182" y="7390103"/>
            <a:ext cx="1077077" cy="1077077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73DF74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257851" y="7629926"/>
            <a:ext cx="597431" cy="597431"/>
          </a:xfrm>
          <a:custGeom>
            <a:avLst/>
            <a:gdLst/>
            <a:ahLst/>
            <a:cxnLst/>
            <a:rect r="r" b="b" t="t" l="l"/>
            <a:pathLst>
              <a:path h="597431" w="597431">
                <a:moveTo>
                  <a:pt x="0" y="0"/>
                </a:moveTo>
                <a:lnTo>
                  <a:pt x="597431" y="0"/>
                </a:lnTo>
                <a:lnTo>
                  <a:pt x="597431" y="597431"/>
                </a:lnTo>
                <a:lnTo>
                  <a:pt x="0" y="5974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98182" y="1751271"/>
            <a:ext cx="14291637" cy="13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800">
                <a:solidFill>
                  <a:srgbClr val="544EC6"/>
                </a:solidFill>
                <a:latin typeface="Prompt Medium Bold"/>
              </a:rPr>
              <a:t>Req</a:t>
            </a:r>
            <a:r>
              <a:rPr lang="en-US" sz="8800">
                <a:solidFill>
                  <a:srgbClr val="544EC6"/>
                </a:solidFill>
                <a:latin typeface="Prompt Medium Bold"/>
              </a:rPr>
              <a:t>uirements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3342" y="5641643"/>
            <a:ext cx="5370953" cy="8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816"/>
              </a:lnSpc>
            </a:pPr>
            <a:r>
              <a:rPr lang="en-US" sz="4868">
                <a:solidFill>
                  <a:srgbClr val="544EC6"/>
                </a:solidFill>
                <a:latin typeface="Prompt Light"/>
              </a:rPr>
              <a:t>J</a:t>
            </a:r>
            <a:r>
              <a:rPr lang="en-US" sz="4868">
                <a:solidFill>
                  <a:srgbClr val="544EC6"/>
                </a:solidFill>
                <a:latin typeface="Prompt Light"/>
                <a:hlinkClick r:id="rId10" tooltip="https://www.google.com/search?sa=X&amp;biw=1879&amp;bih=962&amp;sxsrf=ALiCzsYuodNTy4waXLkM6ZderUyaq8ybww:1661685770981&amp;source=univ&amp;tbm=isch&amp;q=jupyter+note+logo&amp;client=opera-gx&amp;fir=_bXdErk3QufadM%252CpGh5LKRAZ1gfXM%252C_%253Bbr6wrKbxgkz7rM%252Cg7CiczZzIFk26M%252C_%253BGCbCtJG96BqiNM%252Cg7CiczZzIFk26M%252C_%253BQrEavc3HHMOICM%252CPZqSOpSDgf-73M%252C_%253BaqqVWyt2iGFd5M%252CERiw9cMQEEdzuM%252C_%253B_Z5XY-qc2hWbdM%252CRP_qZ8k6HVB78M%252C_%253ByopP3cKS5dGjFM%252CyassxPOChRuS9M%252C_%253BAaFv2gNHzZGhrM%252CNBYnn7uw2aZwnM%252C_%253BTiW57kzed2nNfM%252Cg7CiczZzIFk26M%252C_%253BOHh4yz44TtcxXM%252CfL5kmd8dhqlAkM%252C_&amp;usg=AI4_-kTcljaCPuLUG9-uElGvSPITSHgZcQ&amp;ved=2ahUKEwj72O3wten5AhXMxDgGHbLFCdcQjJkEegQIAhAC"/>
              </a:rPr>
              <a:t>upyter Note</a:t>
            </a:r>
            <a:r>
              <a:rPr lang="en-US" sz="4868">
                <a:solidFill>
                  <a:srgbClr val="544EC6"/>
                </a:solidFill>
                <a:latin typeface="Prompt Light"/>
              </a:rPr>
              <a:t>book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52424" y="3689689"/>
            <a:ext cx="2069071" cy="8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816"/>
              </a:lnSpc>
            </a:pPr>
            <a:r>
              <a:rPr lang="en-US" sz="4868">
                <a:solidFill>
                  <a:srgbClr val="544EC6"/>
                </a:solidFill>
                <a:latin typeface="Prompt Light"/>
              </a:rPr>
              <a:t>Python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92402" y="3808363"/>
            <a:ext cx="8217327" cy="8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816"/>
              </a:lnSpc>
            </a:pPr>
            <a:r>
              <a:rPr lang="en-US" sz="4868">
                <a:solidFill>
                  <a:srgbClr val="544EC6"/>
                </a:solidFill>
                <a:latin typeface="Prompt Light"/>
              </a:rPr>
              <a:t>Visual Studio Code Editor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52424" y="4908549"/>
            <a:ext cx="2329312" cy="83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950"/>
              </a:lnSpc>
            </a:pPr>
            <a:r>
              <a:rPr lang="en-US" sz="4964">
                <a:solidFill>
                  <a:srgbClr val="544EC6"/>
                </a:solidFill>
                <a:latin typeface="Prompt Light"/>
              </a:rPr>
              <a:t>Pytorch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52424" y="6173022"/>
            <a:ext cx="3463474" cy="83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950"/>
              </a:lnSpc>
            </a:pPr>
            <a:r>
              <a:rPr lang="en-US" sz="4964">
                <a:solidFill>
                  <a:srgbClr val="544EC6"/>
                </a:solidFill>
                <a:latin typeface="Prompt Light"/>
              </a:rPr>
              <a:t>TensorFlow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52424" y="7431073"/>
            <a:ext cx="1700030" cy="83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950"/>
              </a:lnSpc>
            </a:pPr>
            <a:r>
              <a:rPr lang="en-US" sz="4964">
                <a:solidFill>
                  <a:srgbClr val="544EC6"/>
                </a:solidFill>
                <a:latin typeface="Prompt Light"/>
              </a:rPr>
              <a:t>Keras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4712730">
            <a:off x="-2298376" y="-4843940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12730">
            <a:off x="-2298376" y="-4946713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6320" y="5143500"/>
            <a:ext cx="16295359" cy="2291676"/>
          </a:xfrm>
          <a:custGeom>
            <a:avLst/>
            <a:gdLst/>
            <a:ahLst/>
            <a:cxnLst/>
            <a:rect r="r" b="b" t="t" l="l"/>
            <a:pathLst>
              <a:path h="2291676" w="16295359">
                <a:moveTo>
                  <a:pt x="0" y="0"/>
                </a:moveTo>
                <a:lnTo>
                  <a:pt x="16295360" y="0"/>
                </a:lnTo>
                <a:lnTo>
                  <a:pt x="16295360" y="2291676"/>
                </a:lnTo>
                <a:lnTo>
                  <a:pt x="0" y="2291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85146" y="2112610"/>
            <a:ext cx="1251770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544EC6"/>
                </a:solidFill>
                <a:latin typeface="Prompt Medium"/>
              </a:rPr>
              <a:t>Existing SPN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670736">
            <a:off x="-5394226" y="-5286520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364161">
            <a:off x="15398321" y="6627972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97369" y="1961042"/>
            <a:ext cx="10493898" cy="7893640"/>
          </a:xfrm>
          <a:custGeom>
            <a:avLst/>
            <a:gdLst/>
            <a:ahLst/>
            <a:cxnLst/>
            <a:rect r="r" b="b" t="t" l="l"/>
            <a:pathLst>
              <a:path h="7893640" w="10493898">
                <a:moveTo>
                  <a:pt x="0" y="0"/>
                </a:moveTo>
                <a:lnTo>
                  <a:pt x="10493898" y="0"/>
                </a:lnTo>
                <a:lnTo>
                  <a:pt x="10493898" y="7893640"/>
                </a:lnTo>
                <a:lnTo>
                  <a:pt x="0" y="7893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2848" y="419101"/>
            <a:ext cx="1304294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9"/>
              </a:lnSpc>
            </a:pPr>
            <a:r>
              <a:rPr lang="en-US" sz="8799">
                <a:solidFill>
                  <a:srgbClr val="544EC6"/>
                </a:solidFill>
                <a:latin typeface="Prompt Medium Bold"/>
              </a:rPr>
              <a:t>Proposed Methodology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670736">
            <a:off x="-5394226" y="-5286520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364161">
            <a:off x="15398321" y="6627972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2021" y="3787575"/>
            <a:ext cx="5571350" cy="1845240"/>
          </a:xfrm>
          <a:custGeom>
            <a:avLst/>
            <a:gdLst/>
            <a:ahLst/>
            <a:cxnLst/>
            <a:rect r="r" b="b" t="t" l="l"/>
            <a:pathLst>
              <a:path h="1845240" w="5571350">
                <a:moveTo>
                  <a:pt x="0" y="0"/>
                </a:moveTo>
                <a:lnTo>
                  <a:pt x="5571350" y="0"/>
                </a:lnTo>
                <a:lnTo>
                  <a:pt x="5571350" y="1845240"/>
                </a:lnTo>
                <a:lnTo>
                  <a:pt x="0" y="1845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141" r="0" b="-91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98727" y="4663875"/>
            <a:ext cx="4633475" cy="2238956"/>
          </a:xfrm>
          <a:custGeom>
            <a:avLst/>
            <a:gdLst/>
            <a:ahLst/>
            <a:cxnLst/>
            <a:rect r="r" b="b" t="t" l="l"/>
            <a:pathLst>
              <a:path h="2238956" w="4633475">
                <a:moveTo>
                  <a:pt x="0" y="0"/>
                </a:moveTo>
                <a:lnTo>
                  <a:pt x="4633475" y="0"/>
                </a:lnTo>
                <a:lnTo>
                  <a:pt x="4633475" y="2238956"/>
                </a:lnTo>
                <a:lnTo>
                  <a:pt x="0" y="22389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75" r="0" b="-957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98727" y="7876314"/>
            <a:ext cx="8687436" cy="1360208"/>
          </a:xfrm>
          <a:custGeom>
            <a:avLst/>
            <a:gdLst/>
            <a:ahLst/>
            <a:cxnLst/>
            <a:rect r="r" b="b" t="t" l="l"/>
            <a:pathLst>
              <a:path h="1360208" w="8687436">
                <a:moveTo>
                  <a:pt x="0" y="0"/>
                </a:moveTo>
                <a:lnTo>
                  <a:pt x="8687436" y="0"/>
                </a:lnTo>
                <a:lnTo>
                  <a:pt x="8687436" y="1360208"/>
                </a:lnTo>
                <a:lnTo>
                  <a:pt x="0" y="1360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4910" b="-520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2021" y="7611487"/>
            <a:ext cx="5170375" cy="1889861"/>
          </a:xfrm>
          <a:custGeom>
            <a:avLst/>
            <a:gdLst/>
            <a:ahLst/>
            <a:cxnLst/>
            <a:rect r="r" b="b" t="t" l="l"/>
            <a:pathLst>
              <a:path h="1889861" w="5170375">
                <a:moveTo>
                  <a:pt x="0" y="0"/>
                </a:moveTo>
                <a:lnTo>
                  <a:pt x="5170376" y="0"/>
                </a:lnTo>
                <a:lnTo>
                  <a:pt x="5170376" y="1889862"/>
                </a:lnTo>
                <a:lnTo>
                  <a:pt x="0" y="1889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6905" y="361950"/>
            <a:ext cx="4954191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9"/>
              </a:lnSpc>
            </a:pPr>
            <a:r>
              <a:rPr lang="en-US" sz="8799">
                <a:solidFill>
                  <a:srgbClr val="544EC6"/>
                </a:solidFill>
                <a:latin typeface="Prompt Medium Bold"/>
              </a:rPr>
              <a:t>Formulas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2021" y="2065834"/>
            <a:ext cx="6023049" cy="172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Prompt Light"/>
              </a:rPr>
              <a:t>Softmax Activation function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98727" y="2065834"/>
            <a:ext cx="7803346" cy="259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Prompt Light"/>
              </a:rPr>
              <a:t>Temperature Scaling using Softmax Activation Function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670736">
            <a:off x="-5394226" y="-5286520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364161">
            <a:off x="15398321" y="6627972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3338" y="3610053"/>
            <a:ext cx="15191060" cy="5118370"/>
          </a:xfrm>
          <a:custGeom>
            <a:avLst/>
            <a:gdLst/>
            <a:ahLst/>
            <a:cxnLst/>
            <a:rect r="r" b="b" t="t" l="l"/>
            <a:pathLst>
              <a:path h="5118370" w="15191060">
                <a:moveTo>
                  <a:pt x="0" y="0"/>
                </a:moveTo>
                <a:lnTo>
                  <a:pt x="15191060" y="0"/>
                </a:lnTo>
                <a:lnTo>
                  <a:pt x="15191060" y="5118370"/>
                </a:lnTo>
                <a:lnTo>
                  <a:pt x="0" y="5118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6905" y="361950"/>
            <a:ext cx="4954191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9"/>
              </a:lnSpc>
            </a:pPr>
            <a:r>
              <a:rPr lang="en-US" sz="8799">
                <a:solidFill>
                  <a:srgbClr val="544EC6"/>
                </a:solidFill>
                <a:latin typeface="Prompt Medium Bold"/>
              </a:rPr>
              <a:t>Formulas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3338" y="2188098"/>
            <a:ext cx="8698223" cy="83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950"/>
              </a:lnSpc>
            </a:pPr>
            <a:r>
              <a:rPr lang="en-US" sz="4964">
                <a:solidFill>
                  <a:srgbClr val="544EC6"/>
                </a:solidFill>
                <a:latin typeface="Prompt Light"/>
              </a:rPr>
              <a:t>Softmax Activation function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0729" y="2521552"/>
            <a:ext cx="12526542" cy="5243897"/>
          </a:xfrm>
          <a:custGeom>
            <a:avLst/>
            <a:gdLst/>
            <a:ahLst/>
            <a:cxnLst/>
            <a:rect r="r" b="b" t="t" l="l"/>
            <a:pathLst>
              <a:path h="5243897" w="12526542">
                <a:moveTo>
                  <a:pt x="0" y="0"/>
                </a:moveTo>
                <a:lnTo>
                  <a:pt x="12526542" y="0"/>
                </a:lnTo>
                <a:lnTo>
                  <a:pt x="12526542" y="5243896"/>
                </a:lnTo>
                <a:lnTo>
                  <a:pt x="0" y="5243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6905" y="361950"/>
            <a:ext cx="4954191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9"/>
              </a:lnSpc>
            </a:pPr>
            <a:r>
              <a:rPr lang="en-US" sz="8799">
                <a:solidFill>
                  <a:srgbClr val="544EC6"/>
                </a:solidFill>
                <a:latin typeface="Prompt Medium Bold"/>
              </a:rPr>
              <a:t>Formulas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6364161">
            <a:off x="15398321" y="6627972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670736">
            <a:off x="-5394226" y="-5286520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544E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7012" y="1028700"/>
            <a:ext cx="6833977" cy="109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639"/>
              </a:lnSpc>
            </a:pPr>
            <a:r>
              <a:rPr lang="en-US" sz="7199">
                <a:solidFill>
                  <a:srgbClr val="FAFAFA"/>
                </a:solidFill>
                <a:latin typeface="Prompt Medium Bold"/>
              </a:rPr>
              <a:t>Result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7564" y="2314595"/>
            <a:ext cx="124542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AFAFA"/>
                </a:solidFill>
                <a:latin typeface="Open Sans"/>
              </a:rPr>
              <a:t>Uncertainty estimation (UE) Methods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21514"/>
            <a:ext cx="16230600" cy="516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0"/>
              </a:lnSpc>
            </a:pPr>
            <a:r>
              <a:rPr lang="en-US" sz="4214">
                <a:solidFill>
                  <a:srgbClr val="FAFAFA"/>
                </a:solidFill>
                <a:latin typeface="Open Sans Light"/>
              </a:rPr>
              <a:t>Aim to improve the interpretability of machine learning models by assigning an estimated uncertainty value to each of their prediction outputs.</a:t>
            </a:r>
          </a:p>
          <a:p>
            <a:pPr algn="just">
              <a:lnSpc>
                <a:spcPts val="5900"/>
              </a:lnSpc>
            </a:pPr>
            <a:r>
              <a:rPr lang="en-US" sz="4214">
                <a:solidFill>
                  <a:srgbClr val="FAFAFA"/>
                </a:solidFill>
                <a:latin typeface="Open Sans Light"/>
              </a:rPr>
              <a:t>UE techniques such as the : -</a:t>
            </a:r>
          </a:p>
          <a:p>
            <a:pPr algn="just" marL="909929" indent="-454965" lvl="1">
              <a:lnSpc>
                <a:spcPts val="5900"/>
              </a:lnSpc>
              <a:buFont typeface="Arial"/>
              <a:buChar char="•"/>
            </a:pPr>
            <a:r>
              <a:rPr lang="en-US" sz="4214">
                <a:solidFill>
                  <a:srgbClr val="FAFAFA"/>
                </a:solidFill>
                <a:latin typeface="Open Sans Light"/>
              </a:rPr>
              <a:t>Monte Carlo dropout (MCDropout) (Used with SPN)</a:t>
            </a:r>
          </a:p>
          <a:p>
            <a:pPr algn="just" marL="909929" indent="-454965" lvl="1">
              <a:lnSpc>
                <a:spcPts val="5900"/>
              </a:lnSpc>
              <a:buFont typeface="Arial"/>
              <a:buChar char="•"/>
            </a:pPr>
            <a:r>
              <a:rPr lang="en-US" sz="4214">
                <a:solidFill>
                  <a:srgbClr val="FAFAFA"/>
                </a:solidFill>
                <a:latin typeface="Open Sans Light"/>
              </a:rPr>
              <a:t>Temperature Scaling (Used with SPN)</a:t>
            </a:r>
          </a:p>
          <a:p>
            <a:pPr algn="just">
              <a:lnSpc>
                <a:spcPts val="59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8182" y="1751271"/>
            <a:ext cx="1429163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44EC6"/>
                </a:solidFill>
                <a:latin typeface="Prompt Medium"/>
              </a:rPr>
              <a:t>Results of SPN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712730">
            <a:off x="-1972978" y="-4845612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8"/>
                </a:lnTo>
                <a:lnTo>
                  <a:pt x="0" y="926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7312" y="3944012"/>
            <a:ext cx="12253377" cy="4305905"/>
          </a:xfrm>
          <a:custGeom>
            <a:avLst/>
            <a:gdLst/>
            <a:ahLst/>
            <a:cxnLst/>
            <a:rect r="r" b="b" t="t" l="l"/>
            <a:pathLst>
              <a:path h="4305905" w="12253377">
                <a:moveTo>
                  <a:pt x="0" y="0"/>
                </a:moveTo>
                <a:lnTo>
                  <a:pt x="12253376" y="0"/>
                </a:lnTo>
                <a:lnTo>
                  <a:pt x="12253376" y="4305905"/>
                </a:lnTo>
                <a:lnTo>
                  <a:pt x="0" y="4305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5482" y="1587633"/>
            <a:ext cx="11920339" cy="1269312"/>
          </a:xfrm>
          <a:custGeom>
            <a:avLst/>
            <a:gdLst/>
            <a:ahLst/>
            <a:cxnLst/>
            <a:rect r="r" b="b" t="t" l="l"/>
            <a:pathLst>
              <a:path h="1269312" w="11920339">
                <a:moveTo>
                  <a:pt x="0" y="0"/>
                </a:moveTo>
                <a:lnTo>
                  <a:pt x="11920339" y="0"/>
                </a:lnTo>
                <a:lnTo>
                  <a:pt x="11920339" y="1269312"/>
                </a:lnTo>
                <a:lnTo>
                  <a:pt x="0" y="126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21" r="0" b="-710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20405" y="2971245"/>
            <a:ext cx="8667642" cy="3078778"/>
          </a:xfrm>
          <a:custGeom>
            <a:avLst/>
            <a:gdLst/>
            <a:ahLst/>
            <a:cxnLst/>
            <a:rect r="r" b="b" t="t" l="l"/>
            <a:pathLst>
              <a:path h="3078778" w="8667642">
                <a:moveTo>
                  <a:pt x="0" y="0"/>
                </a:moveTo>
                <a:lnTo>
                  <a:pt x="8667642" y="0"/>
                </a:lnTo>
                <a:lnTo>
                  <a:pt x="8667642" y="3078778"/>
                </a:lnTo>
                <a:lnTo>
                  <a:pt x="0" y="307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20405" y="6314318"/>
            <a:ext cx="8667642" cy="3757521"/>
          </a:xfrm>
          <a:custGeom>
            <a:avLst/>
            <a:gdLst/>
            <a:ahLst/>
            <a:cxnLst/>
            <a:rect r="r" b="b" t="t" l="l"/>
            <a:pathLst>
              <a:path h="3757521" w="8667642">
                <a:moveTo>
                  <a:pt x="0" y="0"/>
                </a:moveTo>
                <a:lnTo>
                  <a:pt x="8667642" y="0"/>
                </a:lnTo>
                <a:lnTo>
                  <a:pt x="8667642" y="3757522"/>
                </a:lnTo>
                <a:lnTo>
                  <a:pt x="0" y="375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" t="0" r="-23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361950"/>
            <a:ext cx="18288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44EC6"/>
                </a:solidFill>
                <a:latin typeface="Prompt Medium"/>
              </a:rPr>
              <a:t>Results of SPN + Temperature Scaling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12730">
            <a:off x="14895292" y="6997097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712730">
            <a:off x="-5261697" y="7378097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68931" y="3792787"/>
            <a:ext cx="11550139" cy="4753629"/>
          </a:xfrm>
          <a:custGeom>
            <a:avLst/>
            <a:gdLst/>
            <a:ahLst/>
            <a:cxnLst/>
            <a:rect r="r" b="b" t="t" l="l"/>
            <a:pathLst>
              <a:path h="4753629" w="11550139">
                <a:moveTo>
                  <a:pt x="0" y="0"/>
                </a:moveTo>
                <a:lnTo>
                  <a:pt x="11550138" y="0"/>
                </a:lnTo>
                <a:lnTo>
                  <a:pt x="11550138" y="4753628"/>
                </a:lnTo>
                <a:lnTo>
                  <a:pt x="0" y="4753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866775"/>
            <a:ext cx="182880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44EC6"/>
                </a:solidFill>
                <a:latin typeface="Prompt Medium"/>
              </a:rPr>
              <a:t>Results of SPN + Temperature Scaling + Attention Layer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12730">
            <a:off x="14895292" y="6997097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7" y="0"/>
                </a:lnTo>
                <a:lnTo>
                  <a:pt x="9262717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712730">
            <a:off x="-5261697" y="7378097"/>
            <a:ext cx="9262717" cy="9262717"/>
          </a:xfrm>
          <a:custGeom>
            <a:avLst/>
            <a:gdLst/>
            <a:ahLst/>
            <a:cxnLst/>
            <a:rect r="r" b="b" t="t" l="l"/>
            <a:pathLst>
              <a:path h="9262717" w="9262717">
                <a:moveTo>
                  <a:pt x="0" y="0"/>
                </a:moveTo>
                <a:lnTo>
                  <a:pt x="9262718" y="0"/>
                </a:lnTo>
                <a:lnTo>
                  <a:pt x="9262718" y="9262717"/>
                </a:lnTo>
                <a:lnTo>
                  <a:pt x="0" y="926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8763" y="3983692"/>
            <a:ext cx="17056682" cy="3049426"/>
          </a:xfrm>
          <a:custGeom>
            <a:avLst/>
            <a:gdLst/>
            <a:ahLst/>
            <a:cxnLst/>
            <a:rect r="r" b="b" t="t" l="l"/>
            <a:pathLst>
              <a:path h="3049426" w="17056682">
                <a:moveTo>
                  <a:pt x="0" y="0"/>
                </a:moveTo>
                <a:lnTo>
                  <a:pt x="17056681" y="0"/>
                </a:lnTo>
                <a:lnTo>
                  <a:pt x="17056681" y="3049427"/>
                </a:lnTo>
                <a:lnTo>
                  <a:pt x="0" y="3049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94885" y="542925"/>
            <a:ext cx="12698231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5500">
                <a:solidFill>
                  <a:srgbClr val="544EC6"/>
                </a:solidFill>
                <a:latin typeface="Prompt Medium"/>
              </a:rPr>
              <a:t>Comparison of SPN, Temperature Scaling and Attention Layer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037771" cy="10287000"/>
          </a:xfrm>
          <a:prstGeom prst="rect">
            <a:avLst/>
          </a:prstGeom>
          <a:solidFill>
            <a:srgbClr val="544EC6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55689" y="4432865"/>
            <a:ext cx="5126393" cy="13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800">
                <a:solidFill>
                  <a:srgbClr val="FAFAFA"/>
                </a:solidFill>
                <a:latin typeface="Prompt Medium Bold"/>
              </a:rPr>
              <a:t>Summ</a:t>
            </a:r>
            <a:r>
              <a:rPr lang="en-US" sz="8800">
                <a:solidFill>
                  <a:srgbClr val="FAFAFA"/>
                </a:solidFill>
                <a:latin typeface="Prompt Medium Bold"/>
              </a:rPr>
              <a:t>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09459" y="4222963"/>
            <a:ext cx="6992666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Architecture: Modified SPN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09459" y="2912050"/>
            <a:ext cx="6992666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Dataset: HSI (Indian Pines)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35539" y="2754348"/>
            <a:ext cx="984455" cy="984455"/>
            <a:chOff x="0" y="0"/>
            <a:chExt cx="1312606" cy="131260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35539" y="4065261"/>
            <a:ext cx="984455" cy="984455"/>
            <a:chOff x="0" y="0"/>
            <a:chExt cx="1312606" cy="1312606"/>
          </a:xfrm>
        </p:grpSpPr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35539" y="5373566"/>
            <a:ext cx="984455" cy="984455"/>
            <a:chOff x="0" y="0"/>
            <a:chExt cx="1312606" cy="1312606"/>
          </a:xfrm>
        </p:grpSpPr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09459" y="5217697"/>
            <a:ext cx="6992666" cy="122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Performance Measurement: Temperature Scaling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435539" y="6748546"/>
            <a:ext cx="984455" cy="984455"/>
            <a:chOff x="0" y="0"/>
            <a:chExt cx="1312606" cy="1312606"/>
          </a:xfrm>
        </p:grpSpPr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0"/>
              <a:ext cx="1312606" cy="1312606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73DF74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18736" y="232494"/>
              <a:ext cx="875135" cy="780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AFAFA"/>
                  </a:solidFill>
                  <a:latin typeface="Prompt Medium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61834" y="6947816"/>
            <a:ext cx="7040291" cy="6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544EC6"/>
                </a:solidFill>
                <a:latin typeface="Prompt Light"/>
              </a:rPr>
              <a:t>Attention Mechanism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DAFKl8v9FWY</dc:identifier>
  <dcterms:modified xsi:type="dcterms:W3CDTF">2011-08-01T06:04:30Z</dcterms:modified>
  <cp:revision>1</cp:revision>
  <dc:title>BE Major Project - Group 12</dc:title>
</cp:coreProperties>
</file>